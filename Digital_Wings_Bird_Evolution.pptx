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731520"/>
            <a:ext cx="3108960" cy="329184"/>
          </a:xfrm>
          <a:prstGeom prst="roundRect">
            <a:avLst/>
          </a:prstGeom>
          <a:solidFill>
            <a:srgbClr val="ECF9F2"/>
          </a:solidFill>
          <a:ln w="12700">
            <a:solidFill>
              <a:srgbClr val="00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915A"/>
                </a:solidFill>
                <a:latin typeface="Segoe UI"/>
              </a:defRPr>
            </a:pPr>
            <a:r>
              <a:t>LEADERS FOR TOMORROW | C-SUITE FORUM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43000"/>
            <a:ext cx="104241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02C"/>
                </a:solidFill>
                <a:latin typeface="Segoe UI"/>
              </a:defRPr>
            </a:pPr>
            <a:r>
              <a:t>The Digital Wings Journey:</a:t>
            </a:r>
            <a:br/>
            <a:r>
              <a:t>Empowering Leadership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87168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4A5568"/>
                </a:solidFill>
                <a:latin typeface="Segoe UI"/>
              </a:defRPr>
            </a:pPr>
            <a:r>
              <a:t>A global, standards-based guarantee platform delivering security and scalability — and a personal evolution from Niche Technical Expert to Development Team Manager.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310128"/>
            <a:ext cx="10362895" cy="777240"/>
          </a:xfrm>
          <a:prstGeom prst="roundRect">
            <a:avLst/>
          </a:prstGeom>
          <a:solidFill>
            <a:srgbClr val="ECF9F2"/>
          </a:solidFill>
          <a:ln w="12700">
            <a:solidFill>
              <a:srgbClr val="A7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355848"/>
            <a:ext cx="9966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4B2D"/>
                </a:solidFill>
                <a:latin typeface="Segoe UI"/>
              </a:defRPr>
            </a:pPr>
            <a:r>
              <a:t>EXECUTIVE BRIEFING  |  SPEAKER: Development Team Manager, Digital Wings (ISPL)  |  CADENCE: 6 Mins</a:t>
            </a:r>
          </a:p>
          <a:p>
            <a:pPr>
              <a:defRPr sz="1050">
                <a:solidFill>
                  <a:srgbClr val="4A5568"/>
                </a:solidFill>
                <a:latin typeface="Segoe UI"/>
              </a:defRPr>
            </a:pPr>
            <a:r>
              <a:t>Dual Narrative: Platform Global Scaling (Zero Legacy Risk)  x  Personal Evolution from Hands-On Engineer to Delivery Leader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343400"/>
            <a:ext cx="10362895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43484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15A"/>
                </a:solidFill>
                <a:latin typeface="Segoe UI"/>
              </a:defRPr>
            </a:pPr>
            <a:r>
              <a:t>THE 4-STAGE STRATEGIC ROADMAP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5029200"/>
            <a:ext cx="8961120" cy="54864"/>
          </a:xfrm>
          <a:prstGeom prst="rect">
            <a:avLst/>
          </a:prstGeom>
          <a:solidFill>
            <a:srgbClr val="00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61872" y="4855464"/>
            <a:ext cx="402336" cy="402336"/>
          </a:xfrm>
          <a:prstGeom prst="ellipse">
            <a:avLst/>
          </a:prstGeom>
          <a:solidFill>
            <a:srgbClr val="1A202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3492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A202C"/>
                </a:solidFill>
                <a:latin typeface="Segoe UI"/>
              </a:defRPr>
            </a:pPr>
            <a:r>
              <a:t>2017-18 • Genesis &amp; Architecture</a:t>
            </a:r>
          </a:p>
          <a:p>
            <a:pPr algn="ctr">
              <a:defRPr sz="900">
                <a:solidFill>
                  <a:srgbClr val="00915A"/>
                </a:solidFill>
                <a:latin typeface="Segoe UI"/>
              </a:defRPr>
            </a:pPr>
            <a:r>
              <a:t>Niche Tech Expert (IC)</a:t>
            </a:r>
          </a:p>
        </p:txBody>
      </p:sp>
      <p:sp>
        <p:nvSpPr>
          <p:cNvPr id="14" name="Oval 13"/>
          <p:cNvSpPr/>
          <p:nvPr/>
        </p:nvSpPr>
        <p:spPr>
          <a:xfrm>
            <a:off x="4242816" y="4855464"/>
            <a:ext cx="402336" cy="402336"/>
          </a:xfrm>
          <a:prstGeom prst="ellipse">
            <a:avLst/>
          </a:prstGeom>
          <a:solidFill>
            <a:srgbClr val="1A202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6704" y="53492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A202C"/>
                </a:solidFill>
                <a:latin typeface="Segoe UI"/>
              </a:defRPr>
            </a:pPr>
            <a:r>
              <a:t>2019-23 • ISPL Consolidation</a:t>
            </a:r>
          </a:p>
          <a:p>
            <a:pPr algn="ctr">
              <a:defRPr sz="900">
                <a:solidFill>
                  <a:srgbClr val="00915A"/>
                </a:solidFill>
                <a:latin typeface="Segoe UI"/>
              </a:defRPr>
            </a:pPr>
            <a:r>
              <a:t>Scrum Master (Orchestrator)</a:t>
            </a:r>
          </a:p>
        </p:txBody>
      </p:sp>
      <p:sp>
        <p:nvSpPr>
          <p:cNvPr id="16" name="Oval 15"/>
          <p:cNvSpPr/>
          <p:nvPr/>
        </p:nvSpPr>
        <p:spPr>
          <a:xfrm>
            <a:off x="7232904" y="4855464"/>
            <a:ext cx="402336" cy="402336"/>
          </a:xfrm>
          <a:prstGeom prst="ellipse">
            <a:avLst/>
          </a:prstGeom>
          <a:solidFill>
            <a:srgbClr val="1A202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53492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A202C"/>
                </a:solidFill>
                <a:latin typeface="Segoe UI"/>
              </a:defRPr>
            </a:pPr>
            <a:r>
              <a:t>2024 • Central Sites &amp; Europe</a:t>
            </a:r>
          </a:p>
          <a:p>
            <a:pPr algn="ctr">
              <a:defRPr sz="900">
                <a:solidFill>
                  <a:srgbClr val="00915A"/>
                </a:solidFill>
                <a:latin typeface="Segoe UI"/>
              </a:defRPr>
            </a:pPr>
            <a:r>
              <a:t>Dev Team Manager (Delivery)</a:t>
            </a:r>
          </a:p>
        </p:txBody>
      </p:sp>
      <p:sp>
        <p:nvSpPr>
          <p:cNvPr id="18" name="Oval 17"/>
          <p:cNvSpPr/>
          <p:nvPr/>
        </p:nvSpPr>
        <p:spPr>
          <a:xfrm>
            <a:off x="10222992" y="4855464"/>
            <a:ext cx="402336" cy="402336"/>
          </a:xfrm>
          <a:prstGeom prst="ellipse">
            <a:avLst/>
          </a:prstGeom>
          <a:solidFill>
            <a:srgbClr val="D9770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53492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A202C"/>
                </a:solidFill>
                <a:latin typeface="Segoe UI"/>
              </a:defRPr>
            </a:pPr>
            <a:r>
              <a:t>Future • APAC, Americas &amp; AI</a:t>
            </a:r>
          </a:p>
          <a:p>
            <a:pPr algn="ctr">
              <a:defRPr sz="900">
                <a:solidFill>
                  <a:srgbClr val="D97706"/>
                </a:solidFill>
                <a:latin typeface="Segoe UI"/>
              </a:defRPr>
            </a:pPr>
            <a:r>
              <a:t>Leader for Tomorrow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02C"/>
                </a:solidFill>
                <a:latin typeface="Segoe UI"/>
              </a:defRPr>
            </a:pPr>
            <a:r>
              <a:t>Digital Wings: Global Platform Roadmap</a:t>
            </a:r>
          </a:p>
          <a:p>
            <a:pPr>
              <a:defRPr sz="1100">
                <a:solidFill>
                  <a:srgbClr val="4A5568"/>
                </a:solidFill>
                <a:latin typeface="Segoe UI"/>
              </a:defRPr>
            </a:pPr>
            <a:r>
              <a:t>Earning our wings: How Digital Wings evolved from a fledgling initiative into a global soaring platform.</a:t>
            </a:r>
          </a:p>
        </p:txBody>
      </p:sp>
      <p:pic>
        <p:nvPicPr>
          <p:cNvPr id="4" name="Picture 3" descr="road_only_h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418320" cy="49377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645920" y="5029200"/>
            <a:ext cx="292608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645920" y="5029200"/>
            <a:ext cx="2926080" cy="54864"/>
          </a:xfrm>
          <a:prstGeom prst="roundRect">
            <a:avLst/>
          </a:prstGeom>
          <a:solidFill>
            <a:srgbClr val="004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55648" y="5102352"/>
            <a:ext cx="2706624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4B2D"/>
                </a:solidFill>
                <a:latin typeface="Segoe UI"/>
              </a:defRPr>
            </a:pPr>
            <a:r>
              <a:t>2017  |  GENESIS  •  JUST HATCHED</a:t>
            </a:r>
          </a:p>
          <a:p>
            <a:pPr>
              <a:spcAft>
                <a:spcPts val="200"/>
              </a:spcAft>
              <a:defRPr sz="950" b="1">
                <a:solidFill>
                  <a:srgbClr val="1A202C"/>
                </a:solidFill>
                <a:latin typeface="Segoe UI"/>
              </a:defRPr>
            </a:pPr>
            <a:r>
              <a:t>Distributed Kickoff (Paris, Belgium, India)</a:t>
            </a:r>
          </a:p>
          <a:p>
            <a:pPr>
              <a:spcAft>
                <a:spcPts val="100"/>
              </a:spcAft>
              <a:defRPr sz="800">
                <a:solidFill>
                  <a:srgbClr val="4A5568"/>
                </a:solidFill>
                <a:latin typeface="Segoe UI"/>
              </a:defRPr>
            </a:pPr>
            <a:r>
              <a:t>• Mandate: Replace fragmented regional tools.</a:t>
            </a:r>
          </a:p>
          <a:p>
            <a:pPr>
              <a:spcAft>
                <a:spcPts val="100"/>
              </a:spcAft>
              <a:defRPr sz="800">
                <a:solidFill>
                  <a:srgbClr val="4A5568"/>
                </a:solidFill>
                <a:latin typeface="Segoe UI"/>
              </a:defRPr>
            </a:pPr>
            <a:r>
              <a:t>• Architecting the single global guarantee workflow.</a:t>
            </a:r>
          </a:p>
          <a:p>
            <a:pPr>
              <a:spcAft>
                <a:spcPts val="100"/>
              </a:spcAft>
              <a:defRPr sz="800">
                <a:solidFill>
                  <a:srgbClr val="4A5568"/>
                </a:solidFill>
                <a:latin typeface="Segoe UI"/>
              </a:defRPr>
            </a:pPr>
            <a:r>
              <a:t>• Laying foundational security standards.</a:t>
            </a:r>
          </a:p>
        </p:txBody>
      </p:sp>
      <p:pic>
        <p:nvPicPr>
          <p:cNvPr id="8" name="Picture 7" descr="bird1_newbo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937760"/>
            <a:ext cx="1097280" cy="11887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645920" y="2011680"/>
            <a:ext cx="301752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45920" y="2011680"/>
            <a:ext cx="3017520" cy="54864"/>
          </a:xfrm>
          <a:prstGeom prst="roundRect">
            <a:avLst/>
          </a:prstGeom>
          <a:solidFill>
            <a:srgbClr val="00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55648" y="2084832"/>
            <a:ext cx="2798064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915A"/>
                </a:solidFill>
                <a:latin typeface="Segoe UI"/>
              </a:defRPr>
            </a:pPr>
            <a:r>
              <a:t>2018–2023  |  CONSOLIDATION  •  GROWING</a:t>
            </a:r>
          </a:p>
          <a:p>
            <a:pPr>
              <a:spcAft>
                <a:spcPts val="200"/>
              </a:spcAft>
              <a:defRPr sz="950" b="1">
                <a:solidFill>
                  <a:srgbClr val="1A202C"/>
                </a:solidFill>
                <a:latin typeface="Segoe UI"/>
              </a:defRPr>
            </a:pPr>
            <a:r>
              <a:t>Transition to ISPL Engineering Anchor</a:t>
            </a:r>
          </a:p>
          <a:p>
            <a:pPr>
              <a:spcAft>
                <a:spcPts val="100"/>
              </a:spcAft>
              <a:defRPr sz="800">
                <a:solidFill>
                  <a:srgbClr val="4A5568"/>
                </a:solidFill>
                <a:latin typeface="Segoe UI"/>
              </a:defRPr>
            </a:pPr>
            <a:r>
              <a:t>• Strategic ownership transferred fully into ISPL.</a:t>
            </a:r>
          </a:p>
          <a:p>
            <a:pPr>
              <a:spcAft>
                <a:spcPts val="100"/>
              </a:spcAft>
              <a:defRPr sz="800">
                <a:solidFill>
                  <a:srgbClr val="4A5568"/>
                </a:solidFill>
                <a:latin typeface="Segoe UI"/>
              </a:defRPr>
            </a:pPr>
            <a:r>
              <a:t>• Engineered exchange-layer interfaces &amp; migration framework.</a:t>
            </a:r>
          </a:p>
          <a:p>
            <a:pPr>
              <a:spcAft>
                <a:spcPts val="100"/>
              </a:spcAft>
              <a:defRPr sz="800">
                <a:solidFill>
                  <a:srgbClr val="4A5568"/>
                </a:solidFill>
                <a:latin typeface="Segoe UI"/>
              </a:defRPr>
            </a:pPr>
            <a:r>
              <a:t>• Embedded team stabilizes core platform operations.</a:t>
            </a:r>
          </a:p>
        </p:txBody>
      </p:sp>
      <p:pic>
        <p:nvPicPr>
          <p:cNvPr id="12" name="Picture 11" descr="bird2_grow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011680"/>
            <a:ext cx="1097280" cy="11887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858000" y="3931920"/>
            <a:ext cx="310896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0" y="3931920"/>
            <a:ext cx="3108960" cy="54864"/>
          </a:xfrm>
          <a:prstGeom prst="roundRect">
            <a:avLst/>
          </a:prstGeom>
          <a:solidFill>
            <a:srgbClr val="00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4005072"/>
            <a:ext cx="2889504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915A"/>
                </a:solidFill>
                <a:latin typeface="Segoe UI"/>
              </a:defRPr>
            </a:pPr>
            <a:r>
              <a:t>2024  |  CENTRAL DEPLOY  •  TAKING FLIGHT</a:t>
            </a:r>
          </a:p>
          <a:p>
            <a:pPr>
              <a:spcAft>
                <a:spcPts val="200"/>
              </a:spcAft>
              <a:defRPr sz="950" b="1">
                <a:solidFill>
                  <a:srgbClr val="1A202C"/>
                </a:solidFill>
                <a:latin typeface="Segoe UI"/>
              </a:defRPr>
            </a:pPr>
            <a:r>
              <a:t>Central Sites &amp; European Rollout</a:t>
            </a:r>
          </a:p>
          <a:p>
            <a:pPr>
              <a:spcAft>
                <a:spcPts val="100"/>
              </a:spcAft>
              <a:defRPr sz="800">
                <a:solidFill>
                  <a:srgbClr val="4A5568"/>
                </a:solidFill>
                <a:latin typeface="Segoe UI"/>
              </a:defRPr>
            </a:pPr>
            <a:r>
              <a:t>• Full central deployment; 000s of deals migrated seamlessly.</a:t>
            </a:r>
          </a:p>
          <a:p>
            <a:pPr>
              <a:spcAft>
                <a:spcPts val="100"/>
              </a:spcAft>
              <a:defRPr sz="800">
                <a:solidFill>
                  <a:srgbClr val="4A5568"/>
                </a:solidFill>
                <a:latin typeface="Segoe UI"/>
              </a:defRPr>
            </a:pPr>
            <a:r>
              <a:t>• European rollout: X countries, XX deals automated.</a:t>
            </a:r>
          </a:p>
          <a:p>
            <a:pPr>
              <a:spcAft>
                <a:spcPts val="100"/>
              </a:spcAft>
              <a:defRPr sz="800">
                <a:solidFill>
                  <a:srgbClr val="4A5568"/>
                </a:solidFill>
                <a:latin typeface="Segoe UI"/>
              </a:defRPr>
            </a:pPr>
            <a:r>
              <a:t>• Eliminated critical security risks of 20-yr legacy tools.</a:t>
            </a:r>
          </a:p>
        </p:txBody>
      </p:sp>
      <p:pic>
        <p:nvPicPr>
          <p:cNvPr id="16" name="Picture 15" descr="bird3_le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0" y="3931920"/>
            <a:ext cx="1188720" cy="128016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858000" y="1371600"/>
            <a:ext cx="310896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0" y="1371600"/>
            <a:ext cx="3108960" cy="5486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1444752"/>
            <a:ext cx="2889504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97706"/>
                </a:solidFill>
                <a:latin typeface="Segoe UI"/>
              </a:defRPr>
            </a:pPr>
            <a:r>
              <a:t>NEXT HORIZON  |  GLOBAL SCALE  •  SOARING HIGH</a:t>
            </a:r>
          </a:p>
          <a:p>
            <a:pPr>
              <a:spcAft>
                <a:spcPts val="200"/>
              </a:spcAft>
              <a:defRPr sz="950" b="1">
                <a:solidFill>
                  <a:srgbClr val="1A202C"/>
                </a:solidFill>
                <a:latin typeface="Segoe UI"/>
              </a:defRPr>
            </a:pPr>
            <a:r>
              <a:t>APAC, Americas &amp; Industrialisation</a:t>
            </a:r>
          </a:p>
          <a:p>
            <a:pPr>
              <a:spcAft>
                <a:spcPts val="100"/>
              </a:spcAft>
              <a:defRPr sz="800">
                <a:solidFill>
                  <a:srgbClr val="4A5568"/>
                </a:solidFill>
                <a:latin typeface="Segoe UI"/>
              </a:defRPr>
            </a:pPr>
            <a:r>
              <a:t>• APAC: Migrating 20-yr legacy /vision platform.</a:t>
            </a:r>
          </a:p>
          <a:p>
            <a:pPr>
              <a:spcAft>
                <a:spcPts val="100"/>
              </a:spcAft>
              <a:defRPr sz="800">
                <a:solidFill>
                  <a:srgbClr val="4A5568"/>
                </a:solidFill>
                <a:latin typeface="Segoe UI"/>
              </a:defRPr>
            </a:pPr>
            <a:r>
              <a:t>• Americas: Migrating deals from Tradeboss.</a:t>
            </a:r>
          </a:p>
          <a:p>
            <a:pPr>
              <a:spcAft>
                <a:spcPts val="100"/>
              </a:spcAft>
              <a:defRPr sz="800">
                <a:solidFill>
                  <a:srgbClr val="4A5568"/>
                </a:solidFill>
                <a:latin typeface="Segoe UI"/>
              </a:defRPr>
            </a:pPr>
            <a:r>
              <a:t>• BG Industrialisation &amp; Agentic AI transformation.</a:t>
            </a:r>
          </a:p>
        </p:txBody>
      </p:sp>
      <p:pic>
        <p:nvPicPr>
          <p:cNvPr id="20" name="Picture 19" descr="bird4_soar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0" y="1280160"/>
            <a:ext cx="128016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02C"/>
                </a:solidFill>
                <a:latin typeface="Segoe UI"/>
              </a:defRPr>
            </a:pPr>
            <a:r>
              <a:t>Career Path: From Technical Expert to Manager</a:t>
            </a:r>
          </a:p>
          <a:p>
            <a:pPr>
              <a:defRPr sz="1100">
                <a:solidFill>
                  <a:srgbClr val="4A5568"/>
                </a:solidFill>
                <a:latin typeface="Segoe UI"/>
              </a:defRPr>
            </a:pPr>
            <a:r>
              <a:t>An ascending personal journey: Moving from code-level execution to empowering high-performing global delivery teams.</a:t>
            </a:r>
          </a:p>
        </p:txBody>
      </p:sp>
      <p:pic>
        <p:nvPicPr>
          <p:cNvPr id="4" name="Picture 3" descr="career_staircase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115568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0" y="4617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15A"/>
                </a:solidFill>
                <a:latin typeface="Segoe UI"/>
              </a:defRPr>
            </a:pPr>
            <a:r>
              <a:t>STEP 01  |  2018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5029200"/>
            <a:ext cx="204825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A202C"/>
                </a:solidFill>
                <a:latin typeface="Segoe UI"/>
              </a:defRPr>
            </a:pPr>
            <a:r>
              <a:t>Niche-Tech Expert (IC)</a:t>
            </a:r>
          </a:p>
          <a:p>
            <a:pPr>
              <a:spcAft>
                <a:spcPts val="200"/>
              </a:spcAft>
              <a:defRPr sz="850">
                <a:solidFill>
                  <a:srgbClr val="4A5568"/>
                </a:solidFill>
                <a:latin typeface="Segoe UI"/>
              </a:defRPr>
            </a:pPr>
            <a:r>
              <a:t>• Hands-on interface engineering.</a:t>
            </a:r>
          </a:p>
          <a:p>
            <a:pPr>
              <a:spcAft>
                <a:spcPts val="200"/>
              </a:spcAft>
              <a:defRPr sz="850">
                <a:solidFill>
                  <a:srgbClr val="4A5568"/>
                </a:solidFill>
                <a:latin typeface="Segoe UI"/>
              </a:defRPr>
            </a:pPr>
            <a:r>
              <a:t>• Exchange layer &amp; migration protocols.</a:t>
            </a:r>
          </a:p>
          <a:p>
            <a:pPr>
              <a:spcAft>
                <a:spcPts val="200"/>
              </a:spcAft>
              <a:defRPr sz="850">
                <a:solidFill>
                  <a:srgbClr val="4A5568"/>
                </a:solidFill>
                <a:latin typeface="Segoe UI"/>
              </a:defRPr>
            </a:pPr>
            <a:r>
              <a:t>• Mindset: 'Mastering algorithmic precision.'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794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15A"/>
                </a:solidFill>
                <a:latin typeface="Segoe UI"/>
              </a:defRPr>
            </a:pPr>
            <a:r>
              <a:t>STEP 02  |  2020–2023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0912" y="4206240"/>
            <a:ext cx="2048256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A202C"/>
                </a:solidFill>
                <a:latin typeface="Segoe UI"/>
              </a:defRPr>
            </a:pPr>
            <a:r>
              <a:t>Scrum Master (Orchestrator)</a:t>
            </a:r>
          </a:p>
          <a:p>
            <a:pPr>
              <a:spcAft>
                <a:spcPts val="200"/>
              </a:spcAft>
              <a:defRPr sz="850">
                <a:solidFill>
                  <a:srgbClr val="4A5568"/>
                </a:solidFill>
                <a:latin typeface="Segoe UI"/>
              </a:defRPr>
            </a:pPr>
            <a:r>
              <a:t>• Agile execution discipline &amp; velocity.</a:t>
            </a:r>
          </a:p>
          <a:p>
            <a:pPr>
              <a:spcAft>
                <a:spcPts val="200"/>
              </a:spcAft>
              <a:defRPr sz="850">
                <a:solidFill>
                  <a:srgbClr val="4A5568"/>
                </a:solidFill>
                <a:latin typeface="Segoe UI"/>
              </a:defRPr>
            </a:pPr>
            <a:r>
              <a:t>• Removing delivery blockers.</a:t>
            </a:r>
          </a:p>
          <a:p>
            <a:pPr>
              <a:spcAft>
                <a:spcPts val="200"/>
              </a:spcAft>
              <a:defRPr sz="850">
                <a:solidFill>
                  <a:srgbClr val="4A5568"/>
                </a:solidFill>
                <a:latin typeface="Segoe UI"/>
              </a:defRPr>
            </a:pPr>
            <a:r>
              <a:t>• Cross-border trust: Paris &amp; India.</a:t>
            </a:r>
          </a:p>
          <a:p>
            <a:pPr>
              <a:spcAft>
                <a:spcPts val="200"/>
              </a:spcAft>
              <a:defRPr sz="850">
                <a:solidFill>
                  <a:srgbClr val="4A5568"/>
                </a:solidFill>
                <a:latin typeface="Segoe UI"/>
              </a:defRPr>
            </a:pPr>
            <a:r>
              <a:t>• Mindset: 'Empowering collective velocity.'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971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15A"/>
                </a:solidFill>
                <a:latin typeface="Segoe UI"/>
              </a:defRPr>
            </a:pPr>
            <a:r>
              <a:t>STEP 03  | 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5472" y="3383280"/>
            <a:ext cx="2048256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A202C"/>
                </a:solidFill>
                <a:latin typeface="Segoe UI"/>
              </a:defRPr>
            </a:pPr>
            <a:r>
              <a:t>Dev Team Manager (Delivery)</a:t>
            </a:r>
          </a:p>
          <a:p>
            <a:pPr>
              <a:spcAft>
                <a:spcPts val="200"/>
              </a:spcAft>
              <a:defRPr sz="850">
                <a:solidFill>
                  <a:srgbClr val="4A5568"/>
                </a:solidFill>
                <a:latin typeface="Segoe UI"/>
              </a:defRPr>
            </a:pPr>
            <a:r>
              <a:t>• End-to-end ISPL platform ownership.</a:t>
            </a:r>
          </a:p>
          <a:p>
            <a:pPr>
              <a:spcAft>
                <a:spcPts val="200"/>
              </a:spcAft>
              <a:defRPr sz="850">
                <a:solidFill>
                  <a:srgbClr val="4A5568"/>
                </a:solidFill>
                <a:latin typeface="Segoe UI"/>
              </a:defRPr>
            </a:pPr>
            <a:r>
              <a:t>• Central sites cutover &amp; European rollout.</a:t>
            </a:r>
          </a:p>
          <a:p>
            <a:pPr>
              <a:spcAft>
                <a:spcPts val="200"/>
              </a:spcAft>
              <a:defRPr sz="850">
                <a:solidFill>
                  <a:srgbClr val="4A5568"/>
                </a:solidFill>
                <a:latin typeface="Segoe UI"/>
              </a:defRPr>
            </a:pPr>
            <a:r>
              <a:t>• Executive stakeholder governance.</a:t>
            </a:r>
          </a:p>
          <a:p>
            <a:pPr>
              <a:spcAft>
                <a:spcPts val="200"/>
              </a:spcAft>
              <a:defRPr sz="850">
                <a:solidFill>
                  <a:srgbClr val="4A5568"/>
                </a:solidFill>
                <a:latin typeface="Segoe UI"/>
              </a:defRPr>
            </a:pPr>
            <a:r>
              <a:t>• Balancing motherhood and career.</a:t>
            </a:r>
          </a:p>
          <a:p>
            <a:pPr>
              <a:spcAft>
                <a:spcPts val="200"/>
              </a:spcAft>
              <a:defRPr sz="850">
                <a:solidFill>
                  <a:srgbClr val="4A5568"/>
                </a:solidFill>
                <a:latin typeface="Segoe UI"/>
              </a:defRPr>
            </a:pPr>
            <a:r>
              <a:t>• Mindset: 'Delivering enterprise business value.'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965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15A"/>
                </a:solidFill>
                <a:latin typeface="Segoe UI"/>
              </a:defRPr>
            </a:pPr>
            <a:r>
              <a:t>STEP 04  |  TOMORROW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00032" y="2377440"/>
            <a:ext cx="204825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A202C"/>
                </a:solidFill>
                <a:latin typeface="Segoe UI"/>
              </a:defRPr>
            </a:pPr>
            <a:r>
              <a:t>Leader for Tomorrow</a:t>
            </a:r>
          </a:p>
          <a:p>
            <a:pPr>
              <a:spcAft>
                <a:spcPts val="200"/>
              </a:spcAft>
              <a:defRPr sz="850">
                <a:solidFill>
                  <a:srgbClr val="4A5568"/>
                </a:solidFill>
                <a:latin typeface="Segoe UI"/>
              </a:defRPr>
            </a:pPr>
            <a:r>
              <a:t>• Driving Banking IT Transformation.</a:t>
            </a:r>
          </a:p>
          <a:p>
            <a:pPr>
              <a:spcAft>
                <a:spcPts val="200"/>
              </a:spcAft>
              <a:defRPr sz="850">
                <a:solidFill>
                  <a:srgbClr val="4A5568"/>
                </a:solidFill>
                <a:latin typeface="Segoe UI"/>
              </a:defRPr>
            </a:pPr>
            <a:r>
              <a:t>• Pioneering Agentic AI &amp; Industrialisation.</a:t>
            </a:r>
          </a:p>
          <a:p>
            <a:pPr>
              <a:spcAft>
                <a:spcPts val="200"/>
              </a:spcAft>
              <a:defRPr sz="850">
                <a:solidFill>
                  <a:srgbClr val="4A5568"/>
                </a:solidFill>
                <a:latin typeface="Segoe UI"/>
              </a:defRPr>
            </a:pPr>
            <a:r>
              <a:t>• Mentoring tomorrow's engineering leaders.</a:t>
            </a:r>
          </a:p>
          <a:p>
            <a:pPr>
              <a:spcAft>
                <a:spcPts val="200"/>
              </a:spcAft>
              <a:defRPr sz="850">
                <a:solidFill>
                  <a:srgbClr val="4A5568"/>
                </a:solidFill>
                <a:latin typeface="Segoe UI"/>
              </a:defRPr>
            </a:pPr>
            <a:r>
              <a:t>• Living the 'Digital Wings' philosophy.</a:t>
            </a:r>
          </a:p>
          <a:p>
            <a:pPr>
              <a:spcAft>
                <a:spcPts val="200"/>
              </a:spcAft>
              <a:defRPr sz="850">
                <a:solidFill>
                  <a:srgbClr val="4A5568"/>
                </a:solidFill>
                <a:latin typeface="Segoe UI"/>
              </a:defRPr>
            </a:pPr>
            <a:r>
              <a:t>• Mindset: 'Lifting the entire organization higher.'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ECF9F2"/>
          </a:solidFill>
          <a:ln w="12700">
            <a:solidFill>
              <a:srgbClr val="00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915A"/>
                </a:solidFill>
                <a:latin typeface="Segoe UI"/>
              </a:defRPr>
            </a:pPr>
            <a:r>
              <a:t>INNOVATION, RESILIENCE &amp; EXECUTIVE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A202C"/>
                </a:solidFill>
                <a:latin typeface="Segoe UI"/>
              </a:defRPr>
            </a:pPr>
            <a:r>
              <a:t>Leadership for Tomorrow: Innovation, Resilience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33856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5568"/>
                </a:solidFill>
                <a:latin typeface="Segoe UI"/>
              </a:defRPr>
            </a:pPr>
            <a:r>
              <a:t>Combining cutting-edge technology with authentic, balanced leadership to lift the organization higher.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57784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91440" cy="1325880"/>
          </a:xfrm>
          <a:prstGeom prst="roundRect">
            <a:avLst/>
          </a:prstGeom>
          <a:solidFill>
            <a:srgbClr val="00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257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0915A"/>
                </a:solidFill>
                <a:latin typeface="Segoe UI"/>
              </a:defRPr>
            </a:pPr>
            <a:r>
              <a:t>01 / VALUE CHAIN AUTOMATION</a:t>
            </a:r>
          </a:p>
          <a:p>
            <a:pPr>
              <a:spcAft>
                <a:spcPts val="300"/>
              </a:spcAft>
              <a:defRPr sz="1100" b="1">
                <a:solidFill>
                  <a:srgbClr val="1A202C"/>
                </a:solidFill>
                <a:latin typeface="Segoe UI"/>
              </a:defRPr>
            </a:pPr>
            <a:r>
              <a:t>BG Industrialisation Programme</a:t>
            </a:r>
          </a:p>
          <a:p>
            <a:pPr>
              <a:defRPr sz="950">
                <a:solidFill>
                  <a:srgbClr val="4A5568"/>
                </a:solidFill>
                <a:latin typeface="Segoe UI"/>
              </a:defRPr>
            </a:pPr>
            <a:r>
              <a:t>Aggressively automating the end-to-end Bank Guarantee lifecycle to eliminate friction between frontline business and core operations.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57784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91440" cy="1325880"/>
          </a:xfrm>
          <a:prstGeom prst="round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91840"/>
            <a:ext cx="5257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1A202C"/>
                </a:solidFill>
                <a:latin typeface="Segoe UI"/>
              </a:defRPr>
            </a:pPr>
            <a:r>
              <a:t>02 / SDLC ACCELERATION</a:t>
            </a:r>
          </a:p>
          <a:p>
            <a:pPr>
              <a:spcAft>
                <a:spcPts val="300"/>
              </a:spcAft>
              <a:defRPr sz="1100" b="1">
                <a:solidFill>
                  <a:srgbClr val="1A202C"/>
                </a:solidFill>
                <a:latin typeface="Segoe UI"/>
              </a:defRPr>
            </a:pPr>
            <a:r>
              <a:t>AI-Powered Quality Engineering</a:t>
            </a:r>
          </a:p>
          <a:p>
            <a:pPr>
              <a:defRPr sz="950">
                <a:solidFill>
                  <a:srgbClr val="4A5568"/>
                </a:solidFill>
                <a:latin typeface="Segoe UI"/>
              </a:defRPr>
            </a:pPr>
            <a:r>
              <a:t>Integrating generative AI to deliver comprehensive automated unit-test coverage and automated peer code reviews, cutting regression cycles.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557784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91440" cy="13258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754880"/>
            <a:ext cx="5257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D97706"/>
                </a:solidFill>
                <a:latin typeface="Segoe UI"/>
              </a:defRPr>
            </a:pPr>
            <a:r>
              <a:t>03 / AUTONOMOUS CYBER POSTURE</a:t>
            </a:r>
          </a:p>
          <a:p>
            <a:pPr>
              <a:spcAft>
                <a:spcPts val="300"/>
              </a:spcAft>
              <a:defRPr sz="1100" b="1">
                <a:solidFill>
                  <a:srgbClr val="1A202C"/>
                </a:solidFill>
                <a:latin typeface="Segoe UI"/>
              </a:defRPr>
            </a:pPr>
            <a:r>
              <a:t>Agentic Vulnerability Remediation</a:t>
            </a:r>
          </a:p>
          <a:p>
            <a:pPr>
              <a:defRPr sz="950">
                <a:solidFill>
                  <a:srgbClr val="4A5568"/>
                </a:solidFill>
                <a:latin typeface="Segoe UI"/>
              </a:defRPr>
            </a:pPr>
            <a:r>
              <a:t>Deploying autonomous AI agents to proactively detect security vulnerabilities and generate verified remediation patches before production cutover.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737360"/>
            <a:ext cx="4876495" cy="4251960"/>
          </a:xfrm>
          <a:prstGeom prst="roundRect">
            <a:avLst/>
          </a:prstGeom>
          <a:solidFill>
            <a:srgbClr val="ECF9F2"/>
          </a:solidFill>
          <a:ln w="12700">
            <a:solidFill>
              <a:srgbClr val="A7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74519"/>
            <a:ext cx="4327855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 b="1">
                <a:solidFill>
                  <a:srgbClr val="004B2D"/>
                </a:solidFill>
                <a:latin typeface="Segoe UI"/>
              </a:defRPr>
            </a:pPr>
            <a:r>
              <a:t>THE CLOSING PHILOSOPHY &amp; METAPHOR</a:t>
            </a:r>
          </a:p>
          <a:p>
            <a:pPr>
              <a:spcAft>
                <a:spcPts val="800"/>
              </a:spcAft>
              <a:defRPr sz="1350" b="1" i="1">
                <a:solidFill>
                  <a:srgbClr val="1A202C"/>
                </a:solidFill>
                <a:latin typeface="Segoe UI"/>
              </a:defRPr>
            </a:pPr>
            <a:r>
              <a:t>“Every leader starts as a single wing—capable of lift, but limited in flight and range.</a:t>
            </a:r>
          </a:p>
          <a:p>
            <a:pPr>
              <a:spcAft>
                <a:spcPts val="1400"/>
              </a:spcAft>
              <a:defRPr sz="1350" b="1" i="1">
                <a:solidFill>
                  <a:srgbClr val="00915A"/>
                </a:solidFill>
                <a:latin typeface="Segoe UI"/>
              </a:defRPr>
            </a:pPr>
            <a:r>
              <a:t>When we join forces across cultures, technologies, and teams, we create Digital Wings—a collective that lifts the entire organization higher than any one of us could alone.”</a:t>
            </a:r>
          </a:p>
          <a:p>
            <a:pPr>
              <a:spcAft>
                <a:spcPts val="400"/>
              </a:spcAft>
              <a:defRPr sz="1050" b="1">
                <a:solidFill>
                  <a:srgbClr val="1A202C"/>
                </a:solidFill>
                <a:latin typeface="Segoe UI"/>
              </a:defRPr>
            </a:pPr>
            <a:r>
              <a:t>Executive Pillars for Tomorrow's Leaders:</a:t>
            </a:r>
          </a:p>
          <a:p>
            <a:pPr>
              <a:spcAft>
                <a:spcPts val="300"/>
              </a:spcAft>
              <a:defRPr sz="919">
                <a:solidFill>
                  <a:srgbClr val="1A202C"/>
                </a:solidFill>
                <a:latin typeface="Segoe UI"/>
              </a:defRPr>
            </a:pPr>
            <a:r>
              <a:t>✔  Distributed Ownership: Scale is achieved by empowering delivery teams, not micromanaging tasks.</a:t>
            </a:r>
          </a:p>
          <a:p>
            <a:pPr>
              <a:spcAft>
                <a:spcPts val="300"/>
              </a:spcAft>
              <a:defRPr sz="919">
                <a:solidFill>
                  <a:srgbClr val="1A202C"/>
                </a:solidFill>
                <a:latin typeface="Segoe UI"/>
              </a:defRPr>
            </a:pPr>
            <a:r>
              <a:t>✔  Technological Boldness: Embrace Agentic AI as a powerful multiplier of human potential.</a:t>
            </a:r>
          </a:p>
          <a:p>
            <a:pPr>
              <a:spcAft>
                <a:spcPts val="300"/>
              </a:spcAft>
              <a:defRPr sz="919">
                <a:solidFill>
                  <a:srgbClr val="1A202C"/>
                </a:solidFill>
                <a:latin typeface="Segoe UI"/>
              </a:defRPr>
            </a:pPr>
            <a:r>
              <a:t>✔  Resilient Authenticity: Harmonizing career ambition, motherhood, and family builds enduring trust.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